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3"/>
    <p:sldId id="258" r:id="rId4"/>
    <p:sldId id="268" r:id="rId5"/>
    <p:sldId id="259" r:id="rId6"/>
    <p:sldId id="260" r:id="rId7"/>
    <p:sldId id="261" r:id="rId8"/>
    <p:sldId id="270" r:id="rId9"/>
    <p:sldId id="267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446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305" y="991235"/>
            <a:ext cx="11121390" cy="0"/>
          </a:xfrm>
          <a:prstGeom prst="line">
            <a:avLst/>
          </a:prstGeom>
          <a:ln w="19050">
            <a:solidFill>
              <a:srgbClr val="0028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 userDrawn="1"/>
        </p:nvSpPr>
        <p:spPr>
          <a:xfrm>
            <a:off x="7425055" y="466725"/>
            <a:ext cx="4231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Stock-Elf Step 0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305" y="991235"/>
            <a:ext cx="11121390" cy="0"/>
          </a:xfrm>
          <a:prstGeom prst="line">
            <a:avLst/>
          </a:prstGeom>
          <a:ln w="19050">
            <a:solidFill>
              <a:srgbClr val="0028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 userDrawn="1"/>
        </p:nvSpPr>
        <p:spPr>
          <a:xfrm>
            <a:off x="7425055" y="466725"/>
            <a:ext cx="4231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Stock-Elf Step 1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305" y="991235"/>
            <a:ext cx="11121390" cy="0"/>
          </a:xfrm>
          <a:prstGeom prst="line">
            <a:avLst/>
          </a:prstGeom>
          <a:ln w="19050">
            <a:solidFill>
              <a:srgbClr val="0028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 userDrawn="1"/>
        </p:nvSpPr>
        <p:spPr>
          <a:xfrm>
            <a:off x="7425055" y="466725"/>
            <a:ext cx="4231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Stock-Elf Step 2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305" y="991235"/>
            <a:ext cx="11121390" cy="0"/>
          </a:xfrm>
          <a:prstGeom prst="line">
            <a:avLst/>
          </a:prstGeom>
          <a:ln w="19050">
            <a:solidFill>
              <a:srgbClr val="00284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 userDrawn="1"/>
        </p:nvSpPr>
        <p:spPr>
          <a:xfrm>
            <a:off x="7425055" y="466725"/>
            <a:ext cx="4231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Stock-Elf Step 3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.xml"/><Relationship Id="rId3" Type="http://schemas.openxmlformats.org/officeDocument/2006/relationships/hyperlink" Target="https://www.microsoft.com/en-us/haxtoolkit/library/&#13;" TargetMode="External"/><Relationship Id="rId2" Type="http://schemas.openxmlformats.org/officeDocument/2006/relationships/image" Target="../media/image2.png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3"/>
          <p:cNvSpPr/>
          <p:nvPr/>
        </p:nvSpPr>
        <p:spPr>
          <a:xfrm>
            <a:off x="-2" y="2193795"/>
            <a:ext cx="12192000" cy="344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COURSE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HUMAN-AI INTERACTION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dirty="0">
              <a:solidFill>
                <a:srgbClr val="079BE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u="sng" dirty="0">
                <a:solidFill>
                  <a:srgbClr val="079BE2"/>
                </a:solidFill>
                <a:latin typeface="微软雅黑" panose="020B0503020204020204" charset="-122"/>
                <a:ea typeface="微软雅黑" panose="020B0503020204020204" charset="-122"/>
              </a:rPr>
              <a:t>Case study: designing and implementing a conversational assistant </a:t>
            </a:r>
            <a:endParaRPr lang="en-US" altLang="zh-CN" u="sng" dirty="0">
              <a:solidFill>
                <a:srgbClr val="079BE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18.02.2026</a:t>
            </a:r>
            <a:endParaRPr lang="zh-CN" altLang="en-US" dirty="0"/>
          </a:p>
          <a:p>
            <a:pPr algn="ctr"/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 u="sng" dirty="0">
                <a:latin typeface="微软雅黑" panose="020B0503020204020204" charset="-122"/>
                <a:ea typeface="微软雅黑" panose="020B0503020204020204" charset="-122"/>
              </a:rPr>
              <a:t>Stock-Elf: A Conversational Stock Analysis Prototype</a:t>
            </a:r>
            <a:endParaRPr lang="en-US" altLang="zh-CN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 dirty="0">
                <a:sym typeface="+mn-ea"/>
              </a:rPr>
              <a:t>Group 5:</a:t>
            </a:r>
            <a:r>
              <a:rPr lang="en-US" dirty="0">
                <a:sym typeface="+mn-ea"/>
              </a:rPr>
              <a:t> Xinchen </a:t>
            </a:r>
            <a:r>
              <a:rPr lang="en-US" dirty="0">
                <a:sym typeface="+mn-ea"/>
              </a:rPr>
              <a:t>Li</a:t>
            </a:r>
            <a:r>
              <a:rPr lang="en-US" dirty="0">
                <a:sym typeface="+mn-ea"/>
              </a:rPr>
              <a:t>, Shuming </a:t>
            </a:r>
            <a:r>
              <a:rPr lang="en-US" dirty="0">
                <a:sym typeface="+mn-ea"/>
              </a:rPr>
              <a:t>Si</a:t>
            </a:r>
            <a:r>
              <a:rPr lang="en-US" dirty="0">
                <a:sym typeface="+mn-ea"/>
              </a:rPr>
              <a:t>, Shisen </a:t>
            </a:r>
            <a:r>
              <a:rPr lang="en-US" dirty="0">
                <a:sym typeface="+mn-ea"/>
              </a:rPr>
              <a:t>Meng</a:t>
            </a:r>
            <a:r>
              <a:rPr lang="en-US" dirty="0">
                <a:sym typeface="+mn-ea"/>
              </a:rPr>
              <a:t>, Noemi Romani</a:t>
            </a:r>
            <a:endParaRPr lang="en-GB" dirty="0">
              <a:solidFill>
                <a:srgbClr val="000000"/>
              </a:solidFill>
              <a:latin typeface="Calibri" panose="020F0502020204030204" charset="0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logo_ateneo-dad-01"/>
          <p:cNvPicPr>
            <a:picLocks noChangeAspect="1"/>
          </p:cNvPicPr>
          <p:nvPr userDrawn="1"/>
        </p:nvPicPr>
        <p:blipFill>
          <a:blip r:embed="rId1"/>
          <a:srcRect l="1641" t="8832" r="50564" b="8393"/>
          <a:stretch>
            <a:fillRect/>
          </a:stretch>
        </p:blipFill>
        <p:spPr>
          <a:xfrm>
            <a:off x="162560" y="172720"/>
            <a:ext cx="2289810" cy="1108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 userDrawn="1"/>
        </p:nvSpPr>
        <p:spPr>
          <a:xfrm>
            <a:off x="340995" y="430530"/>
            <a:ext cx="6189345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Definition &amp; Capabilities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26490" y="3737610"/>
            <a:ext cx="99314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Target users: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Beginner investors/people interested in stocks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Scenario: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Daily Stock Information Consultation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Goal: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Provide clear and intuitive information on stock trends, timing, and other relevant details.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765935" y="1647190"/>
            <a:ext cx="8652510" cy="1460500"/>
            <a:chOff x="2781" y="2594"/>
            <a:chExt cx="13626" cy="2300"/>
          </a:xfrm>
        </p:grpSpPr>
        <p:sp>
          <p:nvSpPr>
            <p:cNvPr id="8" name="矩形 7"/>
            <p:cNvSpPr/>
            <p:nvPr/>
          </p:nvSpPr>
          <p:spPr>
            <a:xfrm>
              <a:off x="2781" y="2594"/>
              <a:ext cx="13626" cy="2301"/>
            </a:xfrm>
            <a:prstGeom prst="rect">
              <a:avLst/>
            </a:prstGeom>
            <a:noFill/>
            <a:ln w="22225">
              <a:solidFill>
                <a:srgbClr val="214462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182" y="2873"/>
              <a:ext cx="12824" cy="17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en-US" altLang="zh-CN" sz="22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This app helps investors interested in stocks understand stock information through a conversational format.</a:t>
              </a:r>
              <a:endParaRPr lang="en-US" altLang="zh-CN" sz="22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40995" y="430530"/>
            <a:ext cx="504507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Conversational Design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0885" y="1571625"/>
            <a:ext cx="162750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p"/>
            </a:pPr>
            <a:r>
              <a:rPr lang="en-US" altLang="zh-CN" b="1">
                <a:sym typeface="+mn-ea"/>
              </a:rPr>
              <a:t>UI</a:t>
            </a:r>
            <a:r>
              <a:rPr lang="en-US" altLang="zh-CN" b="1">
                <a:sym typeface="+mn-ea"/>
              </a:rPr>
              <a:t> Design</a:t>
            </a:r>
            <a:endParaRPr lang="en-US" altLang="zh-CN" b="1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8490" y="2206625"/>
            <a:ext cx="4464050" cy="39579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Screenshot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93745" y="1027430"/>
            <a:ext cx="268351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285750" indent="-285750" algn="r">
              <a:buFont typeface="Wingdings" panose="05000000000000000000" charset="0"/>
              <a:buChar char="p"/>
            </a:pPr>
            <a:r>
              <a:rPr lang="en-US" altLang="zh-CN" b="1"/>
              <a:t>Dialogues &amp; Tone</a:t>
            </a:r>
            <a:endParaRPr lang="zh-CN" altLang="en-US" b="1"/>
          </a:p>
        </p:txBody>
      </p:sp>
      <p:grpSp>
        <p:nvGrpSpPr>
          <p:cNvPr id="16" name="组合 15"/>
          <p:cNvGrpSpPr/>
          <p:nvPr/>
        </p:nvGrpSpPr>
        <p:grpSpPr>
          <a:xfrm>
            <a:off x="5606415" y="1012190"/>
            <a:ext cx="6811010" cy="6007100"/>
            <a:chOff x="8829" y="1540"/>
            <a:chExt cx="10726" cy="9460"/>
          </a:xfrm>
        </p:grpSpPr>
        <p:sp>
          <p:nvSpPr>
            <p:cNvPr id="8" name="文本框 7"/>
            <p:cNvSpPr txBox="1"/>
            <p:nvPr/>
          </p:nvSpPr>
          <p:spPr>
            <a:xfrm>
              <a:off x="9413" y="1540"/>
              <a:ext cx="8001" cy="3860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p>
              <a:pPr indent="0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600" i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</a:rPr>
                <a:t>The agent supports three main dialogue types:</a:t>
              </a:r>
              <a:endParaRPr lang="en-US" altLang="zh-CN" sz="160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Explain recent stock performance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Summarize general market trends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Answer beginner investment questions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indent="0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600" u="sng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Example:</a:t>
              </a:r>
              <a:endParaRPr lang="en-US" altLang="zh-CN" sz="1600" b="0" i="0" u="sng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indent="0" fontAlgn="base">
                <a:lnSpc>
                  <a:spcPts val="22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altLang="zh-CN" sz="1600" b="0" i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</a:rPr>
                <a:t>→ “How is TSLA doing?”</a:t>
              </a:r>
              <a:endParaRPr lang="en-US" altLang="zh-CN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fontAlgn="base">
                <a:lnSpc>
                  <a:spcPts val="2200"/>
                </a:lnSpc>
                <a:spcBef>
                  <a:spcPct val="0"/>
                </a:spcBef>
                <a:spcAft>
                  <a:spcPts val="1200"/>
                </a:spcAft>
              </a:pPr>
              <a:r>
                <a:rPr lang="en-US" altLang="zh-CN" sz="1600" b="0" i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</a:rPr>
                <a:t>→ “What are the risks of NVDA?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”</a:t>
              </a:r>
              <a:endParaRPr lang="en-US" altLang="zh-CN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413" y="5362"/>
              <a:ext cx="6400" cy="86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marL="285750" lvl="0" indent="-285750" algn="l" fontAlgn="auto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Supports both text and vocal interaction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 fontAlgn="auto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Default interface: chat-based text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413" y="6231"/>
              <a:ext cx="10142" cy="476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lvl="0" indent="0" algn="l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Tone design:</a:t>
              </a:r>
              <a:endParaRPr lang="en-US" altLang="zh-CN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Professional but friendly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Educational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Calm and neutral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lvl="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Non-authoritative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lvl="0" indent="0" algn="l" fontAlgn="auto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u="sng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Example:</a:t>
              </a:r>
              <a:endParaRPr lang="en-US" altLang="zh-CN" sz="16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sym typeface="+mn-ea"/>
              </a:endParaRPr>
            </a:p>
            <a:p>
              <a:pPr lvl="0" indent="0" algn="l" fontAlgn="auto">
                <a:lnSpc>
                  <a:spcPts val="22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→ “I can explain recent trends, but I don’t provide financial advice.”</a:t>
              </a:r>
              <a:endParaRPr lang="en-US" altLang="zh-CN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sym typeface="+mn-ea"/>
              </a:endParaRPr>
            </a:p>
            <a:p>
              <a:pPr lvl="0" indent="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→ “This app is intended for educational purposes only.”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8829" y="5369"/>
              <a:ext cx="10309" cy="0"/>
            </a:xfrm>
            <a:prstGeom prst="line">
              <a:avLst/>
            </a:prstGeom>
            <a:ln w="19050">
              <a:solidFill>
                <a:srgbClr val="21446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829" y="6346"/>
              <a:ext cx="10309" cy="0"/>
            </a:xfrm>
            <a:prstGeom prst="line">
              <a:avLst/>
            </a:prstGeom>
            <a:ln w="19050">
              <a:solidFill>
                <a:srgbClr val="21446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40995" y="430530"/>
            <a:ext cx="504507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Conversational Design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914630" y="5042852"/>
            <a:ext cx="5080000" cy="373380"/>
          </a:xfrm>
          <a:prstGeom prst="rect">
            <a:avLst/>
          </a:prstGeom>
        </p:spPr>
        <p:txBody>
          <a:bodyPr>
            <a:spAutoFit/>
          </a:bodyPr>
          <a:p>
            <a:pPr algn="l" fontAlgn="base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en-US" altLang="zh-CN" sz="1600" b="1" i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8490" y="2206625"/>
            <a:ext cx="4464050" cy="39579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Screenshot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5606415" y="1027430"/>
            <a:ext cx="379603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285750" indent="-285750" algn="l">
              <a:buFont typeface="Wingdings" panose="05000000000000000000" charset="0"/>
              <a:buChar char="p"/>
            </a:pPr>
            <a:r>
              <a:rPr lang="en-US" altLang="zh-CN" b="1"/>
              <a:t>Error recovery + Guidelines</a:t>
            </a:r>
            <a:endParaRPr lang="en-US" altLang="zh-CN" b="1"/>
          </a:p>
        </p:txBody>
      </p:sp>
      <p:grpSp>
        <p:nvGrpSpPr>
          <p:cNvPr id="33" name="组合 32"/>
          <p:cNvGrpSpPr/>
          <p:nvPr/>
        </p:nvGrpSpPr>
        <p:grpSpPr>
          <a:xfrm>
            <a:off x="5606415" y="1591945"/>
            <a:ext cx="6453505" cy="4475480"/>
            <a:chOff x="8829" y="2507"/>
            <a:chExt cx="10308" cy="7048"/>
          </a:xfrm>
        </p:grpSpPr>
        <p:sp>
          <p:nvSpPr>
            <p:cNvPr id="26" name="文本框 25"/>
            <p:cNvSpPr txBox="1"/>
            <p:nvPr/>
          </p:nvSpPr>
          <p:spPr>
            <a:xfrm>
              <a:off x="9413" y="2507"/>
              <a:ext cx="8001" cy="3860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p>
              <a:pPr algn="l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Error recovery strategy:</a:t>
              </a:r>
              <a:endParaRPr lang="en-US" altLang="zh-CN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marL="285750" indent="-285750" algn="l" fontAlgn="auto">
                <a:lnSpc>
                  <a:spcPts val="2200"/>
                </a:lnSpc>
                <a:spcBef>
                  <a:spcPts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Ask clarification questions</a:t>
              </a:r>
              <a:endParaRPr lang="en-US" altLang="zh-CN" sz="1600" b="1" i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Suggest supported stock tickers</a:t>
              </a:r>
              <a:endParaRPr lang="en-US" altLang="zh-CN" sz="1600" b="1" i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ts val="22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Rephrase system limitations</a:t>
              </a:r>
              <a:endParaRPr lang="en-US" altLang="zh-CN" sz="1600" b="1" i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</a:pPr>
              <a:r>
                <a:rPr lang="en-US" altLang="zh-CN" sz="1600" u="sng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Example:</a:t>
              </a:r>
              <a:endParaRPr lang="en-US" altLang="zh-CN" sz="1600" b="0" i="0" u="sng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algn="l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→ 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“I didn’t understand. We recommend checking for spelling errors in the stock name.”</a:t>
              </a:r>
              <a:endParaRPr lang="en-US" altLang="zh-CN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413" y="6923"/>
              <a:ext cx="8437" cy="263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 fontAlgn="base">
                <a:lnSpc>
                  <a:spcPts val="22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</a:pPr>
              <a:r>
                <a:rPr lang="en-US" altLang="zh-CN" sz="16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sym typeface="+mn-ea"/>
                </a:rPr>
                <a:t>Information design:</a:t>
              </a:r>
              <a:endParaRPr lang="en-US" altLang="zh-CN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endParaRPr>
            </a:p>
            <a:p>
              <a:pPr marL="284480" indent="-284480" fontAlgn="base">
                <a:lnSpc>
                  <a:spcPts val="22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Search for the latest stock information in real time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4480" indent="-284480" fontAlgn="base">
                <a:lnSpc>
                  <a:spcPts val="22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4–7 sentences per response</a:t>
              </a:r>
              <a:endParaRPr lang="en-US" altLang="zh-CN" sz="1600" b="1" i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4480" indent="-284480" fontAlgn="base">
                <a:lnSpc>
                  <a:spcPts val="22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Beginner-friendly explanations</a:t>
              </a:r>
              <a:endParaRPr lang="en-US" altLang="zh-CN" sz="1600" b="1" i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4480" indent="-284480" fontAlgn="base">
                <a:lnSpc>
                  <a:spcPts val="22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/>
                <a:buChar char="•"/>
              </a:pP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No financial jargon overload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8829" y="6645"/>
              <a:ext cx="10309" cy="0"/>
            </a:xfrm>
            <a:prstGeom prst="line">
              <a:avLst/>
            </a:prstGeom>
            <a:ln w="19050">
              <a:solidFill>
                <a:srgbClr val="21446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730885" y="1571625"/>
            <a:ext cx="162750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p"/>
            </a:pPr>
            <a:r>
              <a:rPr lang="en-US" altLang="zh-CN" b="1">
                <a:sym typeface="+mn-ea"/>
              </a:rPr>
              <a:t>UI</a:t>
            </a:r>
            <a:r>
              <a:rPr lang="en-US" altLang="zh-CN" b="1">
                <a:sym typeface="+mn-ea"/>
              </a:rPr>
              <a:t> Design</a:t>
            </a:r>
            <a:endParaRPr lang="en-US" altLang="zh-CN" b="1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340995" y="430530"/>
            <a:ext cx="504507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Guidelines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3585" y="1329690"/>
            <a:ext cx="5075555" cy="21837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According Microsoft HAX Guidelines:</a:t>
            </a:r>
            <a:endParaRPr lang="en-US" altLang="zh-CN" sz="1600" b="1" i="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u="sng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G1: Make clear what the system can do</a:t>
            </a:r>
            <a:endParaRPr lang="en-US" altLang="zh-CN" sz="1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u="sng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G2: Make clear how well the system can do what it can do</a:t>
            </a:r>
            <a:endParaRPr lang="en-US" altLang="zh-CN" sz="1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u="sng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G10: Scope services when in doubt</a:t>
            </a:r>
            <a:endParaRPr lang="en-US" altLang="zh-CN" sz="1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u="sng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G11: Make clear why the system did what it did</a:t>
            </a:r>
            <a:endParaRPr lang="en-US" altLang="zh-CN" sz="1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u="sng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G16: Convey the consequences of user actions</a:t>
            </a:r>
            <a:endParaRPr lang="en-US" altLang="zh-CN" sz="1600" b="0" i="0" u="sng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3585" y="4001770"/>
            <a:ext cx="4064000" cy="1901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base">
              <a:spcBef>
                <a:spcPts val="1200"/>
              </a:spcBef>
              <a:spcAft>
                <a:spcPts val="120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Some key point </a:t>
            </a: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apply</a:t>
            </a: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:</a:t>
            </a:r>
            <a:endParaRPr lang="en-US" altLang="zh-CN" sz="1600" b="1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Set clear expectations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Communicate uncertainty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Avoid overconfidence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Encourage user judgment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2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Maintain transparency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291580" y="1329690"/>
            <a:ext cx="5640070" cy="4573270"/>
            <a:chOff x="9330" y="2522"/>
            <a:chExt cx="10618" cy="860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rcRect l="9760" r="34932" b="80494"/>
            <a:stretch>
              <a:fillRect/>
            </a:stretch>
          </p:blipFill>
          <p:spPr>
            <a:xfrm>
              <a:off x="9330" y="2522"/>
              <a:ext cx="10619" cy="169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rcRect l="31177" t="20540" r="13516"/>
            <a:stretch>
              <a:fillRect/>
            </a:stretch>
          </p:blipFill>
          <p:spPr>
            <a:xfrm>
              <a:off x="9330" y="4219"/>
              <a:ext cx="10619" cy="6913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6291580" y="5977255"/>
            <a:ext cx="45446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hlinkClick r:id="rId3" action="ppaction://hlinkfile"/>
              </a:rPr>
              <a:t>https://www.microsoft.com/en-us/haxtoolkit/library/</a:t>
            </a:r>
            <a:endParaRPr lang="en-US" altLang="zh-CN" sz="1600" i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 userDrawn="1"/>
        </p:nvSpPr>
        <p:spPr>
          <a:xfrm>
            <a:off x="340995" y="430530"/>
            <a:ext cx="3748405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Prototype Implement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6570" y="1452880"/>
            <a:ext cx="111994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/>
              <a:t>Stock-Elf is an introductory example of a chat user interface based on large language models (LLMs).</a:t>
            </a:r>
            <a:endParaRPr lang="en-US" altLang="zh-CN" b="1"/>
          </a:p>
          <a:p>
            <a:pPr indent="0" fontAlgn="auto">
              <a:lnSpc>
                <a:spcPct val="150000"/>
              </a:lnSpc>
            </a:pPr>
            <a:r>
              <a:rPr lang="en-US" altLang="zh-CN" b="1"/>
              <a:t>It uses the OpenAI API. Inspired by: </a:t>
            </a:r>
            <a:r>
              <a:rPr lang="en-US" altLang="zh-CN" b="1" i="1"/>
              <a:t>https://beebom.com/how-build-own-ai-chatbot-with-chatgpt-api/</a:t>
            </a:r>
            <a:r>
              <a:rPr lang="en-US" altLang="zh-CN" b="1"/>
              <a:t>.</a:t>
            </a:r>
            <a:endParaRPr lang="zh-CN" altLang="en-US" b="1"/>
          </a:p>
        </p:txBody>
      </p:sp>
      <p:grpSp>
        <p:nvGrpSpPr>
          <p:cNvPr id="7" name="组合 6"/>
          <p:cNvGrpSpPr/>
          <p:nvPr/>
        </p:nvGrpSpPr>
        <p:grpSpPr>
          <a:xfrm>
            <a:off x="1064260" y="2853055"/>
            <a:ext cx="10064115" cy="3593465"/>
            <a:chOff x="1048" y="4673"/>
            <a:chExt cx="15849" cy="5659"/>
          </a:xfrm>
        </p:grpSpPr>
        <p:sp>
          <p:nvSpPr>
            <p:cNvPr id="4" name="文本框 3"/>
            <p:cNvSpPr txBox="1"/>
            <p:nvPr/>
          </p:nvSpPr>
          <p:spPr>
            <a:xfrm>
              <a:off x="1048" y="5468"/>
              <a:ext cx="6400" cy="4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P</a:t>
              </a:r>
              <a:r>
                <a:rPr lang="en-US" altLang="zh-CN"/>
                <a:t>ipeline:</a:t>
              </a:r>
              <a:endParaRPr lang="en-US" altLang="zh-CN"/>
            </a:p>
            <a:p>
              <a:endParaRPr lang="en-US" altLang="zh-CN"/>
            </a:p>
            <a:p>
              <a:r>
                <a:rPr lang="en-US" altLang="zh-CN"/>
                <a:t>User asks about a stock</a:t>
              </a:r>
              <a:endParaRPr lang="en-US" altLang="zh-CN"/>
            </a:p>
            <a:p>
              <a:r>
                <a:rPr lang="en-US" altLang="zh-CN"/>
                <a:t>        </a:t>
              </a:r>
              <a:r>
                <a:rPr lang="en-US" altLang="en-US"/>
                <a:t>↓</a:t>
              </a:r>
              <a:endParaRPr lang="en-US" altLang="en-US"/>
            </a:p>
            <a:p>
              <a:r>
                <a:rPr lang="en-US" altLang="zh-CN"/>
                <a:t>Agent explains performance</a:t>
              </a:r>
              <a:endParaRPr lang="en-US" altLang="zh-CN"/>
            </a:p>
            <a:p>
              <a:r>
                <a:rPr lang="en-US" altLang="zh-CN"/>
                <a:t>        </a:t>
              </a:r>
              <a:r>
                <a:rPr lang="en-US" altLang="en-US"/>
                <a:t>↓</a:t>
              </a:r>
              <a:endParaRPr lang="en-US" altLang="en-US"/>
            </a:p>
            <a:p>
              <a:r>
                <a:rPr lang="en-US" altLang="zh-CN"/>
                <a:t>Agent offers more details</a:t>
              </a:r>
              <a:endParaRPr lang="en-US" altLang="zh-CN"/>
            </a:p>
            <a:p>
              <a:r>
                <a:rPr lang="en-US" altLang="zh-CN"/>
                <a:t>        </a:t>
              </a:r>
              <a:r>
                <a:rPr lang="en-US" altLang="en-US"/>
                <a:t>↓</a:t>
              </a:r>
              <a:endParaRPr lang="en-US" altLang="en-US"/>
            </a:p>
            <a:p>
              <a:r>
                <a:rPr lang="en-US" altLang="zh-CN"/>
                <a:t>User continues or ends conversation</a:t>
              </a:r>
              <a:endParaRPr lang="en-US" altLang="zh-CN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226" y="5712"/>
              <a:ext cx="6671" cy="35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lvl="0" indent="-285750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Technology: </a:t>
              </a:r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OpenAI API (GPT)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pPr marL="285750" lvl="0" indent="-285750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Interface: </a:t>
              </a:r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Web chat prototype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pPr marL="285750" lvl="0" indent="-285750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Supported intents:</a:t>
              </a:r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stock queries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pPr marL="285750" lvl="0" indent="-285750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Fixed structured responses</a:t>
              </a:r>
              <a:endParaRPr lang="en-US" altLang="zh-CN" b="1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pPr marL="285750" lvl="0" indent="-285750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Real-time financial data</a:t>
              </a:r>
              <a:endParaRPr lang="en-US" altLang="zh-CN" b="1"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8833" y="4673"/>
              <a:ext cx="8" cy="5659"/>
            </a:xfrm>
            <a:prstGeom prst="line">
              <a:avLst/>
            </a:prstGeom>
            <a:ln w="19050">
              <a:solidFill>
                <a:srgbClr val="21446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 userDrawn="1"/>
        </p:nvSpPr>
        <p:spPr>
          <a:xfrm>
            <a:off x="340995" y="430530"/>
            <a:ext cx="3748405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ts val="22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Prototype Present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76090" y="3347720"/>
            <a:ext cx="37826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latin typeface="Times New Roman" panose="02020603050405020304" charset="0"/>
                <a:cs typeface="Times New Roman" panose="02020603050405020304" charset="0"/>
              </a:rPr>
              <a:t>SHOW TIME!</a:t>
            </a:r>
            <a:endParaRPr lang="en-US" altLang="zh-CN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logo_ateneo-dad-01"/>
          <p:cNvPicPr>
            <a:picLocks noChangeAspect="1"/>
          </p:cNvPicPr>
          <p:nvPr userDrawn="1"/>
        </p:nvPicPr>
        <p:blipFill>
          <a:blip r:embed="rId1"/>
          <a:srcRect l="1641" t="8832" r="50564" b="8393"/>
          <a:stretch>
            <a:fillRect/>
          </a:stretch>
        </p:blipFill>
        <p:spPr>
          <a:xfrm>
            <a:off x="162560" y="172720"/>
            <a:ext cx="2289810" cy="1108075"/>
          </a:xfrm>
          <a:prstGeom prst="rect">
            <a:avLst/>
          </a:prstGeom>
        </p:spPr>
      </p:pic>
      <p:sp>
        <p:nvSpPr>
          <p:cNvPr id="3" name="矩形 3"/>
          <p:cNvSpPr/>
          <p:nvPr/>
        </p:nvSpPr>
        <p:spPr>
          <a:xfrm>
            <a:off x="-2" y="2193795"/>
            <a:ext cx="12192000" cy="3476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u="sng" dirty="0">
                <a:solidFill>
                  <a:srgbClr val="079BE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Thank you!</a:t>
            </a:r>
            <a:endParaRPr lang="en-US" altLang="zh-CN" sz="4000" u="sng" dirty="0">
              <a:solidFill>
                <a:srgbClr val="079BE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dirty="0">
              <a:solidFill>
                <a:srgbClr val="079BE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18.02.2026</a:t>
            </a:r>
            <a:endParaRPr lang="zh-CN" altLang="en-US" dirty="0"/>
          </a:p>
          <a:p>
            <a:pPr algn="ctr"/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 u="sng" dirty="0">
                <a:latin typeface="微软雅黑" panose="020B0503020204020204" charset="-122"/>
                <a:ea typeface="微软雅黑" panose="020B0503020204020204" charset="-122"/>
              </a:rPr>
              <a:t>Stock-Elf: A Conversational Stock Analysis </a:t>
            </a:r>
            <a:r>
              <a:rPr lang="en-US" altLang="zh-CN" b="1" u="sng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Prototype</a:t>
            </a:r>
            <a:endParaRPr lang="en-US" altLang="zh-CN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 dirty="0">
                <a:sym typeface="+mn-ea"/>
              </a:rPr>
              <a:t>Group 5:</a:t>
            </a:r>
            <a:r>
              <a:rPr lang="en-US" dirty="0">
                <a:sym typeface="+mn-ea"/>
              </a:rPr>
              <a:t> Xinchen </a:t>
            </a:r>
            <a:r>
              <a:rPr lang="en-US" dirty="0">
                <a:sym typeface="+mn-ea"/>
              </a:rPr>
              <a:t>Li</a:t>
            </a:r>
            <a:r>
              <a:rPr lang="en-US" dirty="0">
                <a:sym typeface="+mn-ea"/>
              </a:rPr>
              <a:t>, Shuming </a:t>
            </a:r>
            <a:r>
              <a:rPr lang="en-US" dirty="0">
                <a:sym typeface="+mn-ea"/>
              </a:rPr>
              <a:t>Si</a:t>
            </a:r>
            <a:r>
              <a:rPr lang="en-US" dirty="0">
                <a:sym typeface="+mn-ea"/>
              </a:rPr>
              <a:t>, Shisen </a:t>
            </a:r>
            <a:r>
              <a:rPr lang="en-US" dirty="0">
                <a:sym typeface="+mn-ea"/>
              </a:rPr>
              <a:t>Meng</a:t>
            </a:r>
            <a:r>
              <a:rPr lang="en-US" dirty="0">
                <a:sym typeface="+mn-ea"/>
              </a:rPr>
              <a:t>, Noemi Romani</a:t>
            </a:r>
            <a:endParaRPr lang="en-GB" dirty="0">
              <a:solidFill>
                <a:srgbClr val="000000"/>
              </a:solidFill>
              <a:latin typeface="Calibri" panose="020F0502020204030204" charset="0"/>
            </a:endParaRPr>
          </a:p>
          <a:p>
            <a:pPr algn="ctr"/>
            <a:endParaRPr lang="en-US" b="1" u="sng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2&quot;:[25088977],&quot;65&quot;:[20205081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resource_record_key" val="{&quot;12&quot;:[2508897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indent="0" fontAlgn="auto">
          <a:lnSpc>
            <a:spcPct val="150000"/>
          </a:lnSpc>
          <a:defRPr lang="en-US" altLang="zh-CN" sz="2000" b="1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2628</Words>
  <Application>WPS 演示</Application>
  <PresentationFormat>宽屏</PresentationFormat>
  <Paragraphs>135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Calibri</vt:lpstr>
      <vt:lpstr>Arial</vt:lpstr>
      <vt:lpstr>Times New Roman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李昕宸</cp:lastModifiedBy>
  <cp:revision>258</cp:revision>
  <dcterms:created xsi:type="dcterms:W3CDTF">2019-06-19T02:08:00Z</dcterms:created>
  <dcterms:modified xsi:type="dcterms:W3CDTF">2026-02-12T13:03:50Z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D74D670D57374EA18164E943FF76BDA7_13</vt:lpwstr>
  </property>
</Properties>
</file>